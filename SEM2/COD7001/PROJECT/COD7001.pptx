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TT Hoves" charset="1" panose="02000003020000060003"/>
      <p:regular r:id="rId27"/>
    </p:embeddedFont>
    <p:embeddedFont>
      <p:font typeface="TT Hoves Bold" charset="1" panose="020000030200000600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73329" y="-3743812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9" y="0"/>
                </a:lnTo>
                <a:lnTo>
                  <a:pt x="11221859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20365" y="1867117"/>
            <a:ext cx="2442912" cy="2442912"/>
          </a:xfrm>
          <a:custGeom>
            <a:avLst/>
            <a:gdLst/>
            <a:ahLst/>
            <a:cxnLst/>
            <a:rect r="r" b="b" t="t" l="l"/>
            <a:pathLst>
              <a:path h="2442912" w="2442912">
                <a:moveTo>
                  <a:pt x="0" y="0"/>
                </a:moveTo>
                <a:lnTo>
                  <a:pt x="2442913" y="0"/>
                </a:lnTo>
                <a:lnTo>
                  <a:pt x="2442913" y="2442912"/>
                </a:lnTo>
                <a:lnTo>
                  <a:pt x="0" y="2442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IIT DELHI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COD 7001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0365" y="4956032"/>
            <a:ext cx="10910396" cy="3393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1"/>
              </a:lnSpc>
            </a:pPr>
            <a:r>
              <a:rPr lang="en-US" b="true" sz="9298" spc="-4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User-Level Resource-Aware Runtime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0365" y="8381680"/>
            <a:ext cx="8459795" cy="168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Presented by Nizaul Rahman (2025MCS2099) &amp; Aslam Malik (2025MCS2012)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46135" y="8329295"/>
            <a:ext cx="6413165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This project focuses on building a user-level runtime system that can monitor system resources and adapt scheduling decisions dynamically.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44568"/>
            <a:ext cx="3865736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03046" y="4688372"/>
            <a:ext cx="8395740" cy="285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esign a runtime that provides: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</a:p>
          <a:p>
            <a:pPr algn="just" marL="518157" indent="-259078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Visibility → real-time resource monitoring</a:t>
            </a:r>
          </a:p>
          <a:p>
            <a:pPr algn="just" marL="518157" indent="-259078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Control → user-level scheduling</a:t>
            </a:r>
          </a:p>
          <a:p>
            <a:pPr algn="just" marL="518157" indent="-259078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Adaptability → dynamic behavior under stress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4479393" cy="11878896"/>
            <a:chOff x="0" y="0"/>
            <a:chExt cx="1179758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9758" cy="3128598"/>
            </a:xfrm>
            <a:custGeom>
              <a:avLst/>
              <a:gdLst/>
              <a:ahLst/>
              <a:cxnLst/>
              <a:rect r="r" b="b" t="t" l="l"/>
              <a:pathLst>
                <a:path h="3128598" w="1179758">
                  <a:moveTo>
                    <a:pt x="0" y="0"/>
                  </a:moveTo>
                  <a:lnTo>
                    <a:pt x="1179758" y="0"/>
                  </a:lnTo>
                  <a:lnTo>
                    <a:pt x="1179758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9758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997538" y="-4307727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3" y="0"/>
                </a:lnTo>
                <a:lnTo>
                  <a:pt x="7991003" y="7991004"/>
                </a:lnTo>
                <a:lnTo>
                  <a:pt x="0" y="7991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26267" y="1407482"/>
            <a:ext cx="9760574" cy="304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5"/>
              </a:lnSpc>
            </a:pPr>
            <a:r>
              <a:rPr lang="en-US" b="true" sz="12388" spc="-60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Definition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725735" y="6821207"/>
            <a:ext cx="5508869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03046" y="7601885"/>
            <a:ext cx="7543124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key goal is to shift control from the OS into a user-space runtime that can actively respond to system conditions.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06760" y="-4799495"/>
            <a:ext cx="9598990" cy="9598990"/>
          </a:xfrm>
          <a:custGeom>
            <a:avLst/>
            <a:gdLst/>
            <a:ahLst/>
            <a:cxnLst/>
            <a:rect r="r" b="b" t="t" l="l"/>
            <a:pathLst>
              <a:path h="9598990" w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950" y="6052052"/>
            <a:ext cx="6574559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pc="1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Why This Matters...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75489" y="1170261"/>
            <a:ext cx="6998061" cy="2561528"/>
            <a:chOff x="0" y="0"/>
            <a:chExt cx="2342659" cy="857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91672" y="2024301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75489" y="3862348"/>
            <a:ext cx="6998061" cy="2561528"/>
            <a:chOff x="0" y="0"/>
            <a:chExt cx="2342659" cy="8574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75489" y="6557226"/>
            <a:ext cx="6998061" cy="2561528"/>
            <a:chOff x="0" y="0"/>
            <a:chExt cx="2342659" cy="8574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491672" y="4717783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1672" y="7411266"/>
            <a:ext cx="1578952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18908" y="1814751"/>
            <a:ext cx="4132127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3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</a:t>
            </a:r>
            <a:r>
              <a:rPr lang="en-US" sz="1999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odern systems face: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CPU contention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Memory pressure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Co-located workloads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218908" y="4965739"/>
            <a:ext cx="413212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  <a:spcBef>
                <a:spcPct val="0"/>
              </a:spcBef>
            </a:pPr>
            <a:r>
              <a:rPr lang="en-US" sz="1999" spc="31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OS</a:t>
            </a:r>
            <a:r>
              <a:rPr lang="en-US" sz="1999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hides resource dynamics</a:t>
            </a:r>
          </a:p>
          <a:p>
            <a:pPr algn="just">
              <a:lnSpc>
                <a:spcPts val="26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218908" y="7277100"/>
            <a:ext cx="4132127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  <a:spcBef>
                <a:spcPct val="0"/>
              </a:spcBef>
            </a:pPr>
            <a:r>
              <a:rPr lang="en-US" sz="1999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Leads to: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Inefficient scheduling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System instability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504950" y="4027753"/>
            <a:ext cx="763905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Motivation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4950" y="7061702"/>
            <a:ext cx="6149018" cy="18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Applications typically rely on the OS scheduler, which hides real-time resource conditions. This limits control and can lead to poor performance under stress.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9359" y="-2256728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36375" y="472910"/>
            <a:ext cx="9752797" cy="5668813"/>
          </a:xfrm>
          <a:custGeom>
            <a:avLst/>
            <a:gdLst/>
            <a:ahLst/>
            <a:cxnLst/>
            <a:rect r="r" b="b" t="t" l="l"/>
            <a:pathLst>
              <a:path h="5668813" w="9752797">
                <a:moveTo>
                  <a:pt x="0" y="0"/>
                </a:moveTo>
                <a:lnTo>
                  <a:pt x="9752797" y="0"/>
                </a:lnTo>
                <a:lnTo>
                  <a:pt x="9752797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06356" y="4894066"/>
            <a:ext cx="6768973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Sy</a:t>
            </a: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6356" y="1868684"/>
            <a:ext cx="7639050" cy="26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System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06356" y="5609589"/>
            <a:ext cx="5631180" cy="3648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User-level runtime (no kernel changes)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Components: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Task Manager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Scheduler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Policy Engine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Resource Monitor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706356" y="9308929"/>
            <a:ext cx="895190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system is modular. The Policy Engine decides behavior, while the Scheduler executes it based on runtime conditions.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324016" y="6156795"/>
            <a:ext cx="6935284" cy="251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41"/>
              </a:lnSpc>
            </a:pPr>
            <a:r>
              <a:rPr lang="en-US" b="true" sz="12696" spc="-62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Task Model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888704" y="-8306412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8"/>
                </a:lnTo>
                <a:lnTo>
                  <a:pt x="0" y="1410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03845" y="765798"/>
            <a:ext cx="4680310" cy="6356958"/>
          </a:xfrm>
          <a:custGeom>
            <a:avLst/>
            <a:gdLst/>
            <a:ahLst/>
            <a:cxnLst/>
            <a:rect r="r" b="b" t="t" l="l"/>
            <a:pathLst>
              <a:path h="6356958" w="4680310">
                <a:moveTo>
                  <a:pt x="0" y="0"/>
                </a:moveTo>
                <a:lnTo>
                  <a:pt x="4680310" y="0"/>
                </a:lnTo>
                <a:lnTo>
                  <a:pt x="468031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07223" y="1698999"/>
            <a:ext cx="3004437" cy="132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Each task has: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7223" y="5274145"/>
            <a:ext cx="3738177" cy="132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Execution modeled as: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7223" y="3156162"/>
            <a:ext cx="2646492" cy="161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7" indent="-226693" lvl="1">
              <a:lnSpc>
                <a:spcPts val="3275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ID,</a:t>
            </a: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priority</a:t>
            </a:r>
          </a:p>
          <a:p>
            <a:pPr algn="just" marL="453387" indent="-226693" lvl="1">
              <a:lnSpc>
                <a:spcPts val="3275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Type: CPU / Memory / Mixed</a:t>
            </a:r>
          </a:p>
          <a:p>
            <a:pPr algn="just">
              <a:lnSpc>
                <a:spcPts val="327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007223" y="6709880"/>
            <a:ext cx="2732862" cy="120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7" indent="-226693" lvl="1">
              <a:lnSpc>
                <a:spcPts val="3275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CPU</a:t>
            </a: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bursts</a:t>
            </a:r>
          </a:p>
          <a:p>
            <a:pPr algn="just" marL="453387" indent="-226693" lvl="1">
              <a:lnSpc>
                <a:spcPts val="3275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I/O bursts</a:t>
            </a:r>
          </a:p>
          <a:p>
            <a:pPr algn="just">
              <a:lnSpc>
                <a:spcPts val="327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880286" y="-327462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61084" y="8417012"/>
            <a:ext cx="2398216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Task Abstraction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4469" y="7992832"/>
            <a:ext cx="9984328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Tasks are cooperative and explicitly yield control, since we do not rely on kernel preemption.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126789" y="-2986203"/>
            <a:ext cx="9584989" cy="9584989"/>
          </a:xfrm>
          <a:custGeom>
            <a:avLst/>
            <a:gdLst/>
            <a:ahLst/>
            <a:cxnLst/>
            <a:rect r="r" b="b" t="t" l="l"/>
            <a:pathLst>
              <a:path h="9584989" w="9584989">
                <a:moveTo>
                  <a:pt x="0" y="0"/>
                </a:moveTo>
                <a:lnTo>
                  <a:pt x="9584989" y="0"/>
                </a:lnTo>
                <a:lnTo>
                  <a:pt x="9584989" y="9584989"/>
                </a:lnTo>
                <a:lnTo>
                  <a:pt x="0" y="958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5587239" cy="2662922"/>
            <a:chOff x="0" y="0"/>
            <a:chExt cx="2065940" cy="9846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812039"/>
            <a:ext cx="5587239" cy="2662922"/>
            <a:chOff x="0" y="0"/>
            <a:chExt cx="2065940" cy="9846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598786"/>
            <a:ext cx="5587239" cy="2662922"/>
            <a:chOff x="0" y="0"/>
            <a:chExt cx="2065940" cy="9846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7900054">
            <a:off x="7348622" y="2133028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700000">
            <a:off x="10017119" y="214449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866361">
            <a:off x="7243302" y="766545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995244" y="3895276"/>
            <a:ext cx="4297511" cy="202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76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Runtime API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62365" y="6159736"/>
            <a:ext cx="3563270" cy="39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API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9697" y="2061583"/>
            <a:ext cx="4501689" cy="7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initialize(csv)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56511" y="4834830"/>
            <a:ext cx="4501689" cy="7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addTask()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2654" y="7619873"/>
            <a:ext cx="5423770" cy="7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runtime_yield()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76092" y="2061583"/>
            <a:ext cx="4501689" cy="7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setPriority()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26156" y="4703231"/>
            <a:ext cx="5690347" cy="7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setCoreCount()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126789" y="-2986203"/>
            <a:ext cx="9584989" cy="9584989"/>
          </a:xfrm>
          <a:custGeom>
            <a:avLst/>
            <a:gdLst/>
            <a:ahLst/>
            <a:cxnLst/>
            <a:rect r="r" b="b" t="t" l="l"/>
            <a:pathLst>
              <a:path h="9584989" w="9584989">
                <a:moveTo>
                  <a:pt x="0" y="0"/>
                </a:moveTo>
                <a:lnTo>
                  <a:pt x="9584989" y="0"/>
                </a:lnTo>
                <a:lnTo>
                  <a:pt x="9584989" y="9584989"/>
                </a:lnTo>
                <a:lnTo>
                  <a:pt x="0" y="958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5587239" cy="2662922"/>
            <a:chOff x="0" y="0"/>
            <a:chExt cx="2065940" cy="9846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812039"/>
            <a:ext cx="5587239" cy="2662922"/>
            <a:chOff x="0" y="0"/>
            <a:chExt cx="2065940" cy="9846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598786"/>
            <a:ext cx="5587239" cy="2662922"/>
            <a:chOff x="0" y="0"/>
            <a:chExt cx="2065940" cy="9846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solidFill>
              <a:srgbClr val="000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7900054">
            <a:off x="7348622" y="2133028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700000">
            <a:off x="10017119" y="214449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7866361">
            <a:off x="7243302" y="766545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995244" y="4112063"/>
            <a:ext cx="4297511" cy="1562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014"/>
              </a:lnSpc>
              <a:spcBef>
                <a:spcPct val="0"/>
              </a:spcBef>
            </a:pPr>
            <a:r>
              <a:rPr lang="en-US" b="true" sz="62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Scheduling Policies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62365" y="6159736"/>
            <a:ext cx="3563270" cy="78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Scheduling Strategies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43719" y="2046379"/>
            <a:ext cx="4501689" cy="7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FIFO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9697" y="4472880"/>
            <a:ext cx="4792494" cy="149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Round-Robin (q = 2)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84035" y="7514135"/>
            <a:ext cx="5423770" cy="7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MLFQ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26156" y="2061583"/>
            <a:ext cx="5543600" cy="7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Priority + Aging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21318" y="4105818"/>
            <a:ext cx="3753275" cy="222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b="true" sz="6106" spc="-2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Adaptive (dynamic switching)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69919" y="7861283"/>
            <a:ext cx="5449172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Multiple policies allow us to compare behavior and enable adaptive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89114" y="-8937428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8" y="0"/>
                </a:lnTo>
                <a:lnTo>
                  <a:pt x="15177318" y="15177318"/>
                </a:lnTo>
                <a:lnTo>
                  <a:pt x="0" y="15177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90010" y="48088"/>
            <a:ext cx="7677171" cy="7764522"/>
          </a:xfrm>
          <a:custGeom>
            <a:avLst/>
            <a:gdLst/>
            <a:ahLst/>
            <a:cxnLst/>
            <a:rect r="r" b="b" t="t" l="l"/>
            <a:pathLst>
              <a:path h="7764522" w="7677171">
                <a:moveTo>
                  <a:pt x="0" y="0"/>
                </a:moveTo>
                <a:lnTo>
                  <a:pt x="7677171" y="0"/>
                </a:lnTo>
                <a:lnTo>
                  <a:pt x="7677171" y="7764521"/>
                </a:lnTo>
                <a:lnTo>
                  <a:pt x="0" y="7764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01546"/>
            <a:ext cx="8115300" cy="335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b="true" sz="13278" spc="-6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MLFQ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25235"/>
            <a:ext cx="7707571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Q0: q = 2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Q1: q = 4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Q2: q = 8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Demot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ion: CPU-heavy tasks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romotion: starvation prevention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[In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sert MLFQ diagram]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97275"/>
            <a:ext cx="4414442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Multi-Level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Feedback Queue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443595"/>
            <a:ext cx="747691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MLFQ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balances fairness and responsiveness by adapting priorities dynamically.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26789" y="-298620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1" y="0"/>
                </a:lnTo>
                <a:lnTo>
                  <a:pt x="7624731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5916" y="4260068"/>
            <a:ext cx="10014901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89"/>
              </a:lnSpc>
            </a:pPr>
            <a:r>
              <a:rPr lang="en-US" b="true" sz="6999" spc="-33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Resource Awareness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1343" y="5454827"/>
            <a:ext cx="7615182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  <a:spcBef>
                <a:spcPct val="0"/>
              </a:spcBef>
            </a:pPr>
            <a:r>
              <a:rPr lang="en-US" sz="1999" spc="11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CPU</a:t>
            </a: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via /proc/stat</a:t>
            </a:r>
          </a:p>
          <a:p>
            <a:pPr algn="just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Memory via /proc/self/status</a:t>
            </a:r>
          </a:p>
          <a:p>
            <a:pPr algn="just">
              <a:lnSpc>
                <a:spcPts val="2699"/>
              </a:lnSpc>
              <a:spcBef>
                <a:spcPct val="0"/>
              </a:spcBef>
            </a:pPr>
          </a:p>
          <a:p>
            <a:pPr algn="just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Adaptive sampling: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Stable → reduce sampling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Volatile → increase sampling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85916" y="1457817"/>
            <a:ext cx="7315066" cy="264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4"/>
              </a:lnSpc>
            </a:pPr>
            <a:r>
              <a:rPr lang="en-US" b="true" sz="10499" spc="-50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Resource Monitoring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5916" y="7855078"/>
            <a:ext cx="5959457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Monitoring is lightweight and adaptive to avoid introducing overhead.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01546"/>
            <a:ext cx="8115300" cy="335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b="true" sz="13278" spc="-6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Adaptive Control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325235"/>
            <a:ext cx="7707571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Target CPU = 70%</a:t>
            </a:r>
          </a:p>
          <a:p>
            <a:pPr algn="just">
              <a:lnSpc>
                <a:spcPts val="2699"/>
              </a:lnSpc>
              <a:spcBef>
                <a:spcPct val="0"/>
              </a:spcBef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Uses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PID contr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oller: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roportional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Integral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Derivative</a:t>
            </a:r>
          </a:p>
          <a:p>
            <a:pPr algn="just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Applies delay to regulate load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16349" y="-8174339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16749" y="5697275"/>
            <a:ext cx="44144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PID-Bas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ed Throttling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443595"/>
            <a:ext cx="747691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nstead of aggressive scheduling, we regulate execution smoothly using control theory.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4683" y="-8658607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8" y="0"/>
                </a:lnTo>
                <a:lnTo>
                  <a:pt x="15177318" y="15177318"/>
                </a:lnTo>
                <a:lnTo>
                  <a:pt x="0" y="15177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8579" y="1207120"/>
            <a:ext cx="11301259" cy="5311592"/>
          </a:xfrm>
          <a:custGeom>
            <a:avLst/>
            <a:gdLst/>
            <a:ahLst/>
            <a:cxnLst/>
            <a:rect r="r" b="b" t="t" l="l"/>
            <a:pathLst>
              <a:path h="5311592" w="11301259">
                <a:moveTo>
                  <a:pt x="0" y="0"/>
                </a:moveTo>
                <a:lnTo>
                  <a:pt x="11301259" y="0"/>
                </a:lnTo>
                <a:lnTo>
                  <a:pt x="11301259" y="5311591"/>
                </a:lnTo>
                <a:lnTo>
                  <a:pt x="0" y="5311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01546"/>
            <a:ext cx="8115300" cy="335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b="true" sz="13278" spc="-6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Predictive Guard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25235"/>
            <a:ext cx="7707571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Detects rapid CPU spikes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Switch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schedu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ler mode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revents overload early</a:t>
            </a:r>
          </a:p>
          <a:p>
            <a:pPr algn="just">
              <a:lnSpc>
                <a:spcPts val="26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16749" y="5697275"/>
            <a:ext cx="44144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Proactiv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Adaptation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6749" y="7636481"/>
            <a:ext cx="747691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Thi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acts as a safety mechanism to respond before the system becomes unstable.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45699" y="-8541209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8" y="0"/>
                </a:lnTo>
                <a:lnTo>
                  <a:pt x="15177318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17020" y="407425"/>
            <a:ext cx="3954622" cy="9472149"/>
          </a:xfrm>
          <a:custGeom>
            <a:avLst/>
            <a:gdLst/>
            <a:ahLst/>
            <a:cxnLst/>
            <a:rect r="r" b="b" t="t" l="l"/>
            <a:pathLst>
              <a:path h="9472149" w="3954622">
                <a:moveTo>
                  <a:pt x="0" y="0"/>
                </a:moveTo>
                <a:lnTo>
                  <a:pt x="3954623" y="0"/>
                </a:lnTo>
                <a:lnTo>
                  <a:pt x="3954623" y="9472150"/>
                </a:lnTo>
                <a:lnTo>
                  <a:pt x="0" y="947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35873"/>
            <a:ext cx="8115300" cy="32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89"/>
              </a:lnSpc>
            </a:pPr>
            <a:r>
              <a:rPr lang="en-US" b="true" sz="12978" spc="-60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Deadlock Prevention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749" y="6310422"/>
            <a:ext cx="770757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Banker’s Algorithm (simulation)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Ensur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saf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resource allocation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6749" y="5697275"/>
            <a:ext cx="44144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Saf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ety Mechanism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6749" y="7636481"/>
            <a:ext cx="747691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We simulate re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source allocation to avoid unsafe states before scheduling tasks.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17406" y="-8189014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3939" y="356056"/>
            <a:ext cx="6499604" cy="6632248"/>
          </a:xfrm>
          <a:custGeom>
            <a:avLst/>
            <a:gdLst/>
            <a:ahLst/>
            <a:cxnLst/>
            <a:rect r="r" b="b" t="t" l="l"/>
            <a:pathLst>
              <a:path h="6632248" w="6499604">
                <a:moveTo>
                  <a:pt x="0" y="0"/>
                </a:moveTo>
                <a:lnTo>
                  <a:pt x="6499604" y="0"/>
                </a:lnTo>
                <a:lnTo>
                  <a:pt x="6499604" y="6632249"/>
                </a:lnTo>
                <a:lnTo>
                  <a:pt x="0" y="663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35873"/>
            <a:ext cx="8115300" cy="32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89"/>
              </a:lnSpc>
            </a:pPr>
            <a:r>
              <a:rPr lang="en-US" b="true" sz="12978" spc="-60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Runtime Dashboard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749" y="6325235"/>
            <a:ext cx="7707571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Displays: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CPU usage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Memory usage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Activ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task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Scheduling policy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Adaptation eve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nts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16749" y="5697275"/>
            <a:ext cx="44144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Observabili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6749" y="8592186"/>
            <a:ext cx="7476910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dashboard provide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real-time visibility into system behavior and adaptation decisions.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98999"/>
            <a:ext cx="3004437" cy="132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Balanced workload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74145"/>
            <a:ext cx="3738177" cy="132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CPU stress workload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3156162"/>
            <a:ext cx="2646492" cy="161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7" indent="-226693" lvl="1">
              <a:lnSpc>
                <a:spcPts val="3275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ID,</a:t>
            </a: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priority</a:t>
            </a:r>
          </a:p>
          <a:p>
            <a:pPr algn="just" marL="453387" indent="-226693" lvl="1">
              <a:lnSpc>
                <a:spcPts val="3275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Type: CPU / Memory / Mixed</a:t>
            </a:r>
          </a:p>
          <a:p>
            <a:pPr algn="just">
              <a:lnSpc>
                <a:spcPts val="327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709880"/>
            <a:ext cx="2732862" cy="120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7" indent="-226693" lvl="1">
              <a:lnSpc>
                <a:spcPts val="3275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CPU</a:t>
            </a: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bursts</a:t>
            </a:r>
          </a:p>
          <a:p>
            <a:pPr algn="just" marL="453387" indent="-226693" lvl="1">
              <a:lnSpc>
                <a:spcPts val="3275"/>
              </a:lnSpc>
              <a:buFont typeface="Arial"/>
              <a:buChar char="•"/>
            </a:pPr>
            <a:r>
              <a:rPr lang="en-US" sz="209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I/O bursts</a:t>
            </a:r>
          </a:p>
          <a:p>
            <a:pPr algn="just">
              <a:lnSpc>
                <a:spcPts val="327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98999"/>
            <a:ext cx="3180534" cy="197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Fault-injection workload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51798" y="6756136"/>
            <a:ext cx="6935284" cy="122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277"/>
              </a:lnSpc>
            </a:pPr>
            <a:r>
              <a:rPr lang="en-US" b="true" sz="11496" spc="-56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Workloads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314273" y="-8649430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8"/>
                </a:lnTo>
                <a:lnTo>
                  <a:pt x="0" y="14102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880286" y="-327462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33302" y="8417012"/>
            <a:ext cx="2853779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Expe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rimental Setup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4469" y="7992832"/>
            <a:ext cx="9984328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These workloads test different system behaviors under realistic and extreme conditions.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1687" y="-1449615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959015" y="404189"/>
            <a:ext cx="5642639" cy="5778062"/>
          </a:xfrm>
          <a:custGeom>
            <a:avLst/>
            <a:gdLst/>
            <a:ahLst/>
            <a:cxnLst/>
            <a:rect r="r" b="b" t="t" l="l"/>
            <a:pathLst>
              <a:path h="5778062" w="5642639">
                <a:moveTo>
                  <a:pt x="0" y="0"/>
                </a:moveTo>
                <a:lnTo>
                  <a:pt x="5642639" y="0"/>
                </a:lnTo>
                <a:lnTo>
                  <a:pt x="5642639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06356" y="1868684"/>
            <a:ext cx="7639050" cy="261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Performance Comparison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6356" y="4894066"/>
            <a:ext cx="6768973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Policy Co</a:t>
            </a: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mparison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06356" y="9308929"/>
            <a:ext cx="895190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Round-Robin</a:t>
            </a:r>
            <a:r>
              <a:rPr lang="en-US" sz="21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has high switching overhead, while Adaptive achieves efficiency with minimal switching.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06356" y="5473357"/>
            <a:ext cx="7834960" cy="3648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Content (table):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Policy        Time      Context Switches      Overhead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FIFO          1775        54                                   0.1245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RR              1775        900                               0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Priority      1775         54                                 0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MLFQ        1775        312                                0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Adaptive   1775        54                                 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17406" y="-8189014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672750"/>
            <a:ext cx="7386164" cy="5734455"/>
          </a:xfrm>
          <a:custGeom>
            <a:avLst/>
            <a:gdLst/>
            <a:ahLst/>
            <a:cxnLst/>
            <a:rect r="r" b="b" t="t" l="l"/>
            <a:pathLst>
              <a:path h="5734455" w="7386164">
                <a:moveTo>
                  <a:pt x="0" y="0"/>
                </a:moveTo>
                <a:lnTo>
                  <a:pt x="7386164" y="0"/>
                </a:lnTo>
                <a:lnTo>
                  <a:pt x="7386164" y="5734456"/>
                </a:lnTo>
                <a:lnTo>
                  <a:pt x="0" y="5734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35873"/>
            <a:ext cx="8115300" cy="32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89"/>
              </a:lnSpc>
            </a:pPr>
            <a:r>
              <a:rPr lang="en-US" b="true" sz="12978" spc="-60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System Metrics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749" y="6325235"/>
            <a:ext cx="7707571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Tasks completed: 54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Execution time: 93.42 sec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Ov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erhead: 0.7265%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Throughput: 30.423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task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 / 1000 cycle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16749" y="5697275"/>
            <a:ext cx="4414442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Overall Performance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16749" y="8592186"/>
            <a:ext cx="7476910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run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time maintains high throughput while keeping overhead low.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17406" y="-8189014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25380" y="887551"/>
            <a:ext cx="9133920" cy="4477091"/>
          </a:xfrm>
          <a:custGeom>
            <a:avLst/>
            <a:gdLst/>
            <a:ahLst/>
            <a:cxnLst/>
            <a:rect r="r" b="b" t="t" l="l"/>
            <a:pathLst>
              <a:path h="4477091" w="9133920">
                <a:moveTo>
                  <a:pt x="0" y="0"/>
                </a:moveTo>
                <a:lnTo>
                  <a:pt x="9133920" y="0"/>
                </a:lnTo>
                <a:lnTo>
                  <a:pt x="9133920" y="4477092"/>
                </a:lnTo>
                <a:lnTo>
                  <a:pt x="0" y="4477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35873"/>
            <a:ext cx="8115300" cy="32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89"/>
              </a:lnSpc>
            </a:pPr>
            <a:r>
              <a:rPr lang="en-US" b="true" sz="12978" spc="-60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749" y="6325235"/>
            <a:ext cx="7707571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RR → high overhead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FIFO → low responsiveness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MLFQ → balanced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Adaptive → best stability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16749" y="5697275"/>
            <a:ext cx="44144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Observations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6749" y="8592186"/>
            <a:ext cx="7476910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Adap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tive combines efficiency with dynamic control, making it the most robust approach.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31211"/>
            <a:ext cx="8115300" cy="168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89"/>
              </a:lnSpc>
            </a:pPr>
            <a:r>
              <a:rPr lang="en-US" b="true" sz="12978" spc="-60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16749" y="6325235"/>
            <a:ext cx="7707571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No true preemption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Depends</a:t>
            </a: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on parameter tuning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Limited memory-aware adaptation</a:t>
            </a:r>
          </a:p>
          <a:p>
            <a:pPr algn="just">
              <a:lnSpc>
                <a:spcPts val="2699"/>
              </a:lnSpc>
            </a:pP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017406" y="-8189014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16749" y="5697275"/>
            <a:ext cx="441444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Observations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6749" y="8592186"/>
            <a:ext cx="7476910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Thes</a:t>
            </a:r>
            <a:r>
              <a:rPr lang="en-US" sz="2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are expected constraints of a user-level system.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16809" y="7139097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9860" y="3416909"/>
            <a:ext cx="299055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  <a:spcBef>
                <a:spcPct val="0"/>
              </a:spcBef>
            </a:pPr>
            <a:r>
              <a:rPr lang="en-US" sz="2499" spc="14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[Insert screenshot]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1747" y="8266238"/>
            <a:ext cx="13935782" cy="13935782"/>
          </a:xfrm>
          <a:custGeom>
            <a:avLst/>
            <a:gdLst/>
            <a:ahLst/>
            <a:cxnLst/>
            <a:rect r="r" b="b" t="t" l="l"/>
            <a:pathLst>
              <a:path h="13935782" w="13935782">
                <a:moveTo>
                  <a:pt x="0" y="0"/>
                </a:moveTo>
                <a:lnTo>
                  <a:pt x="13935782" y="0"/>
                </a:lnTo>
                <a:lnTo>
                  <a:pt x="13935782" y="13935782"/>
                </a:lnTo>
                <a:lnTo>
                  <a:pt x="0" y="1393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49000" y="1771650"/>
            <a:ext cx="8510300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30"/>
              </a:lnSpc>
            </a:pPr>
            <a:r>
              <a:rPr lang="en-US" b="true" sz="9000" spc="-4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49000" y="3726057"/>
            <a:ext cx="7707571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F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ully functional runtime system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Combines OS + control theory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Improves stability under load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103228" y="0"/>
            <a:ext cx="4174657" cy="4817439"/>
            <a:chOff x="0" y="0"/>
            <a:chExt cx="1099498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9498" cy="1268790"/>
            </a:xfrm>
            <a:custGeom>
              <a:avLst/>
              <a:gdLst/>
              <a:ahLst/>
              <a:cxnLst/>
              <a:rect r="r" b="b" t="t" l="l"/>
              <a:pathLst>
                <a:path h="1268790" w="1099498">
                  <a:moveTo>
                    <a:pt x="0" y="0"/>
                  </a:moveTo>
                  <a:lnTo>
                    <a:pt x="1099498" y="0"/>
                  </a:lnTo>
                  <a:lnTo>
                    <a:pt x="1099498" y="1268790"/>
                  </a:lnTo>
                  <a:lnTo>
                    <a:pt x="0" y="12687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99498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145437" y="1339306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50404" y="5473502"/>
            <a:ext cx="5978068" cy="133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7"/>
              </a:lnSpc>
              <a:spcBef>
                <a:spcPct val="0"/>
              </a:spcBef>
            </a:pPr>
            <a:r>
              <a:rPr lang="en-US" sz="256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project demonstrates how user-level control can enhance system behavior without kernel modification.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025" y="8207539"/>
            <a:ext cx="13935782" cy="13935782"/>
          </a:xfrm>
          <a:custGeom>
            <a:avLst/>
            <a:gdLst/>
            <a:ahLst/>
            <a:cxnLst/>
            <a:rect r="r" b="b" t="t" l="l"/>
            <a:pathLst>
              <a:path h="13935782" w="13935782">
                <a:moveTo>
                  <a:pt x="0" y="0"/>
                </a:moveTo>
                <a:lnTo>
                  <a:pt x="13935783" y="0"/>
                </a:lnTo>
                <a:lnTo>
                  <a:pt x="13935783" y="13935782"/>
                </a:lnTo>
                <a:lnTo>
                  <a:pt x="0" y="1393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49000" y="1771650"/>
            <a:ext cx="8510300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30"/>
              </a:lnSpc>
            </a:pPr>
            <a:r>
              <a:rPr lang="en-US" b="true" sz="9000" spc="-4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49000" y="3726057"/>
            <a:ext cx="7707571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</a:t>
            </a: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emory-aware adaptation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Better predictive models</a:t>
            </a:r>
          </a:p>
          <a:p>
            <a:pPr algn="just" marL="431799" indent="-215899" lvl="1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Visualization tools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103228" y="0"/>
            <a:ext cx="4189332" cy="4817439"/>
            <a:chOff x="0" y="0"/>
            <a:chExt cx="1103363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3363" cy="1268790"/>
            </a:xfrm>
            <a:custGeom>
              <a:avLst/>
              <a:gdLst/>
              <a:ahLst/>
              <a:cxnLst/>
              <a:rect r="r" b="b" t="t" l="l"/>
              <a:pathLst>
                <a:path h="1268790" w="1103363">
                  <a:moveTo>
                    <a:pt x="0" y="0"/>
                  </a:moveTo>
                  <a:lnTo>
                    <a:pt x="1103363" y="0"/>
                  </a:lnTo>
                  <a:lnTo>
                    <a:pt x="1103363" y="1268790"/>
                  </a:lnTo>
                  <a:lnTo>
                    <a:pt x="0" y="12687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03363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145437" y="1339306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6519" y="5335782"/>
            <a:ext cx="5981668" cy="7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  <a:spcBef>
                <a:spcPct val="0"/>
              </a:spcBef>
            </a:pPr>
            <a:r>
              <a:rPr lang="en-US" sz="2299" spc="137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There is strong potential to extend this into a more intelligent runtime system.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553680" y="4278387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9" y="0"/>
                </a:lnTo>
                <a:lnTo>
                  <a:pt x="11221859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IIT DELHI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COD 7001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0790" y="2862623"/>
            <a:ext cx="10598510" cy="20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b="true" sz="16402" spc="-80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44568"/>
            <a:ext cx="3865736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FINAL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DAHHg5NofmI</dc:identifier>
  <dcterms:modified xsi:type="dcterms:W3CDTF">2011-08-01T06:04:30Z</dcterms:modified>
  <cp:revision>1</cp:revision>
  <dc:title>COD7001</dc:title>
</cp:coreProperties>
</file>