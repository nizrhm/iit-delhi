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</p:sldIdLst>
  <p:sldSz cx="18288000" cy="10287000"/>
  <p:notesSz cx="6858000" cy="9144000"/>
  <p:embeddedFontLst>
    <p:embeddedFont>
      <p:font typeface="TT Hoves" charset="1" panose="02000003020000060003"/>
      <p:regular r:id="rId9"/>
    </p:embeddedFont>
    <p:embeddedFont>
      <p:font typeface="TT Hoves Bold" charset="1" panose="02000003020000060003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430739" y="-4047977"/>
            <a:ext cx="11221859" cy="11221859"/>
          </a:xfrm>
          <a:custGeom>
            <a:avLst/>
            <a:gdLst/>
            <a:ahLst/>
            <a:cxnLst/>
            <a:rect r="r" b="b" t="t" l="l"/>
            <a:pathLst>
              <a:path h="11221859" w="11221859">
                <a:moveTo>
                  <a:pt x="0" y="0"/>
                </a:moveTo>
                <a:lnTo>
                  <a:pt x="11221859" y="0"/>
                </a:lnTo>
                <a:lnTo>
                  <a:pt x="11221859" y="11221858"/>
                </a:lnTo>
                <a:lnTo>
                  <a:pt x="0" y="112218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696258" y="-450527"/>
            <a:ext cx="19680517" cy="1704491"/>
            <a:chOff x="0" y="0"/>
            <a:chExt cx="5183346" cy="44891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83346" cy="448919"/>
            </a:xfrm>
            <a:custGeom>
              <a:avLst/>
              <a:gdLst/>
              <a:ahLst/>
              <a:cxnLst/>
              <a:rect r="r" b="b" t="t" l="l"/>
              <a:pathLst>
                <a:path h="448919" w="5183346">
                  <a:moveTo>
                    <a:pt x="0" y="0"/>
                  </a:moveTo>
                  <a:lnTo>
                    <a:pt x="5183346" y="0"/>
                  </a:lnTo>
                  <a:lnTo>
                    <a:pt x="5183346" y="448919"/>
                  </a:lnTo>
                  <a:lnTo>
                    <a:pt x="0" y="448919"/>
                  </a:lnTo>
                  <a:close/>
                </a:path>
              </a:pathLst>
            </a:custGeom>
            <a:solidFill>
              <a:srgbClr val="0003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83346" cy="5060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4600976" y="47467"/>
            <a:ext cx="1099663" cy="1099663"/>
          </a:xfrm>
          <a:custGeom>
            <a:avLst/>
            <a:gdLst/>
            <a:ahLst/>
            <a:cxnLst/>
            <a:rect r="r" b="b" t="t" l="l"/>
            <a:pathLst>
              <a:path h="1099663" w="1099663">
                <a:moveTo>
                  <a:pt x="0" y="0"/>
                </a:moveTo>
                <a:lnTo>
                  <a:pt x="1099663" y="0"/>
                </a:lnTo>
                <a:lnTo>
                  <a:pt x="1099663" y="1099663"/>
                </a:lnTo>
                <a:lnTo>
                  <a:pt x="0" y="10996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4141979" y="344568"/>
            <a:ext cx="311732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IIT DELHI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585339" y="344568"/>
            <a:ext cx="3117321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COD 7001 Project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1589775"/>
            <a:ext cx="10910396" cy="513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9"/>
              </a:lnSpc>
            </a:pPr>
            <a:r>
              <a:rPr lang="en-US" b="true" sz="3999" spc="-195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User-Level Resource-Aware Runtime System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9018270"/>
            <a:ext cx="8459795" cy="64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2499" spc="-49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Presented by Nizaul Rahman (2025MCS2099) &amp; Aslam (2025MCS2103)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344568"/>
            <a:ext cx="3865736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FINAL PRESENTATION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64538" y="2462384"/>
            <a:ext cx="8459795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9"/>
              </a:lnSpc>
              <a:spcBef>
                <a:spcPct val="0"/>
              </a:spcBef>
            </a:pPr>
            <a:r>
              <a:rPr lang="en-US" sz="3999" spc="63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Problem Specs vs. Achievements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3498189"/>
            <a:ext cx="16230600" cy="4879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74"/>
              </a:lnSpc>
              <a:spcBef>
                <a:spcPct val="0"/>
              </a:spcBef>
            </a:pPr>
            <a:r>
              <a:rPr lang="en-US" b="true" sz="2499" spc="39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Problem Specifications (What we set out to do):</a:t>
            </a:r>
          </a:p>
          <a:p>
            <a:pPr algn="l" marL="474978" indent="-237489" lvl="1">
              <a:lnSpc>
                <a:spcPts val="2969"/>
              </a:lnSpc>
              <a:buFont typeface="Arial"/>
              <a:buChar char="•"/>
            </a:pPr>
            <a:r>
              <a:rPr lang="en-US" sz="2199" spc="35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Design a user-level runtime system simulating advanced OS concepts entirely in user-space.</a:t>
            </a:r>
          </a:p>
          <a:p>
            <a:pPr algn="l" marL="474978" indent="-237489" lvl="1">
              <a:lnSpc>
                <a:spcPts val="2969"/>
              </a:lnSpc>
              <a:buFont typeface="Arial"/>
              <a:buChar char="•"/>
            </a:pPr>
            <a:r>
              <a:rPr lang="en-US" sz="2199" spc="35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Implement diverse scheduling algorithms (FIFO, Round Robin) with parallel execution scaling.</a:t>
            </a:r>
          </a:p>
          <a:p>
            <a:pPr algn="l" marL="474978" indent="-237489" lvl="1">
              <a:lnSpc>
                <a:spcPts val="2969"/>
              </a:lnSpc>
              <a:buFont typeface="Arial"/>
              <a:buChar char="•"/>
            </a:pPr>
            <a:r>
              <a:rPr lang="en-US" sz="2199" spc="35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Deploy safety mechanisms to formally guarantee system health and prevent resource deadlocks.</a:t>
            </a:r>
          </a:p>
          <a:p>
            <a:pPr algn="just">
              <a:lnSpc>
                <a:spcPts val="2699"/>
              </a:lnSpc>
              <a:spcBef>
                <a:spcPct val="0"/>
              </a:spcBef>
            </a:pPr>
          </a:p>
          <a:p>
            <a:pPr algn="just">
              <a:lnSpc>
                <a:spcPts val="3374"/>
              </a:lnSpc>
              <a:spcBef>
                <a:spcPct val="0"/>
              </a:spcBef>
            </a:pPr>
            <a:r>
              <a:rPr lang="en-US" b="true" sz="2499" spc="39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What We Achieved (100% of specs met):</a:t>
            </a:r>
          </a:p>
          <a:p>
            <a:pPr algn="l" marL="474978" indent="-237489" lvl="1">
              <a:lnSpc>
                <a:spcPts val="2969"/>
              </a:lnSpc>
              <a:buFont typeface="Arial"/>
              <a:buChar char="•"/>
            </a:pPr>
            <a:r>
              <a:rPr lang="en-US" b="true" sz="2199" spc="35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Advanced Scheduling</a:t>
            </a:r>
            <a:r>
              <a:rPr lang="en-US" sz="2199" spc="35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: Shipped a full 3-Level Multi-Feedback Queue (MLFQ) and a Priority system featuring "Aging" to prevent task starvation.</a:t>
            </a:r>
          </a:p>
          <a:p>
            <a:pPr algn="l" marL="474978" indent="-237489" lvl="1">
              <a:lnSpc>
                <a:spcPts val="2969"/>
              </a:lnSpc>
              <a:buFont typeface="Arial"/>
              <a:buChar char="•"/>
            </a:pPr>
            <a:r>
              <a:rPr lang="en-US" b="true" sz="2199" spc="35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Resource Safety</a:t>
            </a:r>
            <a:r>
              <a:rPr lang="en-US" sz="2199" spc="35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: Successfully integrated the strict Banker's Algorithm, ensuring safe matrices for memory/resource allocation before execution.</a:t>
            </a:r>
          </a:p>
          <a:p>
            <a:pPr algn="l" marL="474978" indent="-237489" lvl="1">
              <a:lnSpc>
                <a:spcPts val="2969"/>
              </a:lnSpc>
              <a:buFont typeface="Arial"/>
              <a:buChar char="•"/>
            </a:pPr>
            <a:r>
              <a:rPr lang="en-US" b="true" sz="2199" spc="35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Multicore Concurrency</a:t>
            </a:r>
            <a:r>
              <a:rPr lang="en-US" sz="2199" spc="35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: Achieved stable parallel task distribution across up to 4 simulated virtual cores.</a:t>
            </a:r>
          </a:p>
          <a:p>
            <a:pPr algn="l" marL="474978" indent="-237489" lvl="1">
              <a:lnSpc>
                <a:spcPts val="2969"/>
              </a:lnSpc>
              <a:buFont typeface="Arial"/>
              <a:buChar char="•"/>
            </a:pPr>
            <a:r>
              <a:rPr lang="en-US" b="true" sz="2199" spc="35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Observability</a:t>
            </a:r>
            <a:r>
              <a:rPr lang="en-US" sz="2199" spc="35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: Built a real-time, ASCII-based terminal dashboard to visualize system throughput, process states, and telemetry.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299291" y="-3517063"/>
            <a:ext cx="7624730" cy="7624730"/>
          </a:xfrm>
          <a:custGeom>
            <a:avLst/>
            <a:gdLst/>
            <a:ahLst/>
            <a:cxnLst/>
            <a:rect r="r" b="b" t="t" l="l"/>
            <a:pathLst>
              <a:path h="7624730" w="7624730">
                <a:moveTo>
                  <a:pt x="0" y="0"/>
                </a:moveTo>
                <a:lnTo>
                  <a:pt x="7624730" y="0"/>
                </a:lnTo>
                <a:lnTo>
                  <a:pt x="7624730" y="7624731"/>
                </a:lnTo>
                <a:lnTo>
                  <a:pt x="0" y="76247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42566" y="2116169"/>
            <a:ext cx="10014901" cy="650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50"/>
              </a:lnSpc>
            </a:pPr>
            <a:r>
              <a:rPr lang="en-US" sz="5000" spc="-240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Engineering Effort &amp; LLM Assistance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42566" y="485803"/>
            <a:ext cx="10854697" cy="1525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730"/>
              </a:lnSpc>
            </a:pPr>
            <a:r>
              <a:rPr lang="en-US" b="true" sz="9000" spc="-432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Effort Distribution</a:t>
            </a:r>
          </a:p>
          <a:p>
            <a:pPr algn="just">
              <a:lnSpc>
                <a:spcPts val="3395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342566" y="3064125"/>
            <a:ext cx="15636046" cy="611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Overall Effort Breakdown: 75</a:t>
            </a:r>
            <a:r>
              <a:rPr lang="en-US" sz="24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% Human Architecture &amp; Engineering | 20% LLM Assistance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Human Effort (The System Design - 75%):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Core Systems Architecture:</a:t>
            </a:r>
            <a:r>
              <a:rPr lang="en-US" sz="24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Designing the interactions between the Scheduler, the Policy Engine, and the Runtime execution loop.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Algorithmic Tuning</a:t>
            </a:r>
            <a:r>
              <a:rPr lang="en-US" sz="24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: Manually tuning the MLFQ time quanta (Q=2,4,8) and calibrating the PID Throttle  to ensure stable simulation speeds without crashing.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Debugging &amp; Verification</a:t>
            </a:r>
            <a:r>
              <a:rPr lang="en-US" sz="24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: Tracking down race conditions on multicore executions, integrating Banker’s safe-state logic, and validating telemetry outputs.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LLM Effort (The Accelerator - 25%)</a:t>
            </a:r>
            <a:r>
              <a:rPr lang="en-US" sz="24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: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Boilerplate &amp; Syntax</a:t>
            </a:r>
            <a:r>
              <a:rPr lang="en-US" sz="24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: Generating C++17 class structures, Makefiles, and CSV string parsers (workload.csv).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UI Formatting</a:t>
            </a:r>
            <a:r>
              <a:rPr lang="en-US" sz="24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: Writing the repetitive console output code for progress bars and the dashboard layout.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Test Automation</a:t>
            </a:r>
            <a:r>
              <a:rPr lang="en-US" sz="24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: Generating the bash scripting (run_tests.sh) to streamline our evaluation suites.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Some last minute debugging.*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299291" y="-3517063"/>
            <a:ext cx="7624730" cy="7624730"/>
          </a:xfrm>
          <a:custGeom>
            <a:avLst/>
            <a:gdLst/>
            <a:ahLst/>
            <a:cxnLst/>
            <a:rect r="r" b="b" t="t" l="l"/>
            <a:pathLst>
              <a:path h="7624730" w="7624730">
                <a:moveTo>
                  <a:pt x="0" y="0"/>
                </a:moveTo>
                <a:lnTo>
                  <a:pt x="7624730" y="0"/>
                </a:lnTo>
                <a:lnTo>
                  <a:pt x="7624730" y="7624731"/>
                </a:lnTo>
                <a:lnTo>
                  <a:pt x="0" y="76247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42566" y="2116169"/>
            <a:ext cx="10014901" cy="650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50"/>
              </a:lnSpc>
            </a:pPr>
            <a:r>
              <a:rPr lang="en-US" sz="5000" spc="-240">
                <a:solidFill>
                  <a:srgbClr val="343434"/>
                </a:solidFill>
                <a:latin typeface="TT Hoves"/>
                <a:ea typeface="TT Hoves"/>
                <a:cs typeface="TT Hoves"/>
                <a:sym typeface="TT Hoves"/>
              </a:rPr>
              <a:t>Novel Features &amp; System Highlights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42566" y="485803"/>
            <a:ext cx="10854697" cy="1525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730"/>
              </a:lnSpc>
            </a:pPr>
            <a:r>
              <a:rPr lang="en-US" b="true" sz="9000" spc="-432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Novel Features</a:t>
            </a:r>
          </a:p>
          <a:p>
            <a:pPr algn="just">
              <a:lnSpc>
                <a:spcPts val="3395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342566" y="3064125"/>
            <a:ext cx="15636046" cy="568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Standout No</a:t>
            </a:r>
            <a:r>
              <a:rPr lang="en-US" b="true" sz="2499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vel Features:</a:t>
            </a:r>
          </a:p>
          <a:p>
            <a:pPr algn="just" marL="539746" indent="-269873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Adaptive Scheduling Engine: </a:t>
            </a:r>
            <a:r>
              <a:rPr lang="en-US" sz="24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The system doesn't rely on a static policy. It actively monitors CPU/Memory load thresholds and autonomously hot-swaps between FIFO, Round Robin, and Priority scheduling based on system stress.</a:t>
            </a:r>
          </a:p>
          <a:p>
            <a:pPr algn="just" marL="539746" indent="-269873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Predictive Resource Guard &amp; PID Throttle: </a:t>
            </a:r>
            <a:r>
              <a:rPr lang="en-US" sz="24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Uses linear trend analysis to spot CPU surges (Slope &gt; 15.0) and applies a Proportional-Integral-Derivative (PID) controller to gently inject micro-delays, maintaining stability.</a:t>
            </a:r>
          </a:p>
          <a:p>
            <a:pPr algn="just" marL="539746" indent="-269873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Smart Watchdog (Fault Isolation): </a:t>
            </a:r>
            <a:r>
              <a:rPr lang="en-US" sz="249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We support fault injection. The watchdog actively sweeps for "buggy" tasks stuck in infinite loops (progressing at 0%), safely terminating them to protect the host.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DAHHqewFQJI</dc:identifier>
  <dcterms:modified xsi:type="dcterms:W3CDTF">2011-08-01T06:04:30Z</dcterms:modified>
  <cp:revision>1</cp:revision>
  <dc:title>Copy of COD7001-3PAGER</dc:title>
</cp:coreProperties>
</file>